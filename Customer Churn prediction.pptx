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92" r:id="rId4"/>
    <p:sldId id="293" r:id="rId5"/>
    <p:sldId id="294" r:id="rId6"/>
    <p:sldId id="295" r:id="rId7"/>
    <p:sldId id="297" r:id="rId8"/>
    <p:sldId id="296" r:id="rId9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ExtraBold" panose="00000900000000000000" pitchFamily="2" charset="0"/>
      <p:bold r:id="rId19"/>
      <p:boldItalic r:id="rId20"/>
    </p:embeddedFont>
    <p:embeddedFont>
      <p:font typeface="Montserrat ExtraLight" panose="000003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E2A9C0-E475-45AD-97DD-F5217C5B95AC}">
  <a:tblStyle styleId="{83E2A9C0-E475-45AD-97DD-F5217C5B95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0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801328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962c8e87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962c8e87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d42c1dd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d42c1dd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d42c1dd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d42c1dd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d42c1dd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d42c1dd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d42c1dd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d42c1dd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d42c1dd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d42c1dd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d42c1dd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d42c1dd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444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d42c1dd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d42c1dd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57200" y="1805375"/>
            <a:ext cx="3830100" cy="1356600"/>
          </a:xfrm>
          <a:prstGeom prst="rect">
            <a:avLst/>
          </a:prstGeom>
          <a:effectLst>
            <a:outerShdw blurRad="157163" dist="19050" dir="858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" y="4271900"/>
            <a:ext cx="3830100" cy="46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457200" y="3191625"/>
            <a:ext cx="3830100" cy="464700"/>
          </a:xfrm>
          <a:prstGeom prst="rect">
            <a:avLst/>
          </a:prstGeom>
          <a:effectLst>
            <a:outerShdw blurRad="57150" dist="19050" dir="822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ExtraLight"/>
              <a:buNone/>
              <a:defRPr sz="22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ExtraBold"/>
              <a:buNone/>
              <a:defRPr sz="28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3"/>
          <p:cNvCxnSpPr/>
          <p:nvPr/>
        </p:nvCxnSpPr>
        <p:spPr>
          <a:xfrm>
            <a:off x="580150" y="3132425"/>
            <a:ext cx="35091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59150" y="771550"/>
            <a:ext cx="3830100" cy="22322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 Churn Prediction Analysis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2"/>
          </p:nvPr>
        </p:nvSpPr>
        <p:spPr>
          <a:xfrm>
            <a:off x="419650" y="3291830"/>
            <a:ext cx="3830100" cy="46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N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by: Yashika </a:t>
            </a:r>
            <a:r>
              <a:rPr lang="en-IN" sz="14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Batham </a:t>
            </a:r>
            <a:endPara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/>
            <a:endPara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536" y="386789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Course: MBA (Business </a:t>
            </a:r>
            <a:r>
              <a:rPr 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Analytics)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445025"/>
            <a:ext cx="6058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AB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</a:t>
            </a:r>
            <a:endParaRPr sz="3600" dirty="0">
              <a:solidFill>
                <a:srgbClr val="FFAB4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474025" y="414025"/>
            <a:ext cx="44502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3" name="Google Shape;63;p14"/>
          <p:cNvSpPr txBox="1"/>
          <p:nvPr/>
        </p:nvSpPr>
        <p:spPr>
          <a:xfrm>
            <a:off x="938500" y="1676775"/>
            <a:ext cx="7172100" cy="23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“Customer churn refers to when customers stop doing business with a company. Predicting churn helps businesses understand which customers are likely to leave, and why.”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tx1"/>
              </a:solidFill>
              <a:latin typeface="Cambria" pitchFamily="18" charset="0"/>
              <a:ea typeface="Cambria" pitchFamily="18" charset="0"/>
              <a:cs typeface="Montserrat"/>
              <a:sym typeface="Montserrat"/>
            </a:endParaRP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this project we use R to find which factors (age, country, activity, products) drive churn, using regression and logistic regression.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insights help design targeted retention strategies and reduce revenue loss</a:t>
            </a:r>
            <a:endParaRPr sz="115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445025"/>
            <a:ext cx="6058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AB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Objective</a:t>
            </a:r>
            <a:endParaRPr sz="3600" dirty="0">
              <a:solidFill>
                <a:srgbClr val="FFAB4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474025" y="414025"/>
            <a:ext cx="44502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3" name="Google Shape;63;p14"/>
          <p:cNvSpPr txBox="1"/>
          <p:nvPr/>
        </p:nvSpPr>
        <p:spPr>
          <a:xfrm>
            <a:off x="938500" y="1676775"/>
            <a:ext cx="7172100" cy="23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Analyze customer data to identify who is likely to churn, and why.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Techniques used: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Exploratory analysis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Linear &amp; multiple regression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Logistic regression (churn model)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Model evaluation: accuracy &amp; recall</a:t>
            </a:r>
            <a:endParaRPr sz="115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6786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445025"/>
            <a:ext cx="6058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AB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Dataset Overview</a:t>
            </a:r>
            <a:endParaRPr sz="3600" dirty="0">
              <a:solidFill>
                <a:srgbClr val="FFAB4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474025" y="414025"/>
            <a:ext cx="44502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3" name="Google Shape;63;p14"/>
          <p:cNvSpPr txBox="1"/>
          <p:nvPr/>
        </p:nvSpPr>
        <p:spPr>
          <a:xfrm>
            <a:off x="683568" y="1563639"/>
            <a:ext cx="7172100" cy="273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Dataset: Bank Customer Churn Prediction.csv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10,000 customers, about 20% churned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Key variables: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credit_score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country, gender, age, tenure, balance,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products_number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active_member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estimated_salary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churn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Cleaning: no missing values; gender &amp; country converted to factors; 80/20 train-test split</a:t>
            </a:r>
          </a:p>
          <a:p>
            <a:endParaRPr lang="en-US" sz="115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4453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445025"/>
            <a:ext cx="6058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AB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Linear &amp; Multiple Regression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rgbClr val="FFAB4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474025" y="414025"/>
            <a:ext cx="44502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3" name="Google Shape;63;p14"/>
          <p:cNvSpPr txBox="1"/>
          <p:nvPr/>
        </p:nvSpPr>
        <p:spPr>
          <a:xfrm>
            <a:off x="474025" y="1779662"/>
            <a:ext cx="7172100" cy="225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Salary vs age: R² = 0.00005, no relationship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Balance vs credit score, age &amp; salary: R² ≈ 0.001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These variables do not explain salary or balance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870E8-CDED-4F48-A0F9-4A4230786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623" y="627534"/>
            <a:ext cx="3168352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0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339502"/>
            <a:ext cx="6058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AB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Churn Rate By Country</a:t>
            </a:r>
          </a:p>
        </p:txBody>
      </p:sp>
      <p:cxnSp>
        <p:nvCxnSpPr>
          <p:cNvPr id="62" name="Google Shape;62;p14"/>
          <p:cNvCxnSpPr/>
          <p:nvPr/>
        </p:nvCxnSpPr>
        <p:spPr>
          <a:xfrm>
            <a:off x="539552" y="339502"/>
            <a:ext cx="44502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3" name="Google Shape;63;p14"/>
          <p:cNvSpPr txBox="1"/>
          <p:nvPr/>
        </p:nvSpPr>
        <p:spPr>
          <a:xfrm>
            <a:off x="899592" y="1563638"/>
            <a:ext cx="7172100" cy="312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Overall churn: about 20%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Germany 32.4% vs France 16.2% and Spain 16.7%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Inactive members churn more (27% vs 14%)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Female customers churn more (25% vs 16.5%)</a:t>
            </a:r>
          </a:p>
          <a:p>
            <a:pPr>
              <a:buClr>
                <a:schemeClr val="tx1"/>
              </a:buClr>
            </a:pPr>
            <a:endParaRPr lang="en-US" sz="16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endParaRPr sz="115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FCF5C-69E6-4037-A98B-AB69CEB19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1275606"/>
            <a:ext cx="2952328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339502"/>
            <a:ext cx="6058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AB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Logistic Regression Churn</a:t>
            </a:r>
          </a:p>
        </p:txBody>
      </p:sp>
      <p:cxnSp>
        <p:nvCxnSpPr>
          <p:cNvPr id="62" name="Google Shape;62;p14"/>
          <p:cNvCxnSpPr/>
          <p:nvPr/>
        </p:nvCxnSpPr>
        <p:spPr>
          <a:xfrm>
            <a:off x="539552" y="339502"/>
            <a:ext cx="44502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3" name="Google Shape;63;p14"/>
          <p:cNvSpPr txBox="1"/>
          <p:nvPr/>
        </p:nvSpPr>
        <p:spPr>
          <a:xfrm>
            <a:off x="457200" y="1491630"/>
            <a:ext cx="7172100" cy="312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Target: churn (0/1); 80/20 train-test split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Germany ≈ 2.2x odds of churn; each year of age +8%; 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active members ≈ 65% lower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Accuracy ≈ 82%, but recall only ≈ 25% at 0.5 cutoff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 lower cutoff (0.3) catches more churners</a:t>
            </a:r>
          </a:p>
          <a:p>
            <a:pPr>
              <a:buClr>
                <a:schemeClr val="tx1"/>
              </a:buClr>
            </a:pPr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sz="115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7E5D6C-D8BC-4A2E-B958-99BFD553F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1347614"/>
            <a:ext cx="3222103" cy="32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04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445025"/>
            <a:ext cx="6058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AB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Key Takeaways</a:t>
            </a:r>
            <a:endParaRPr sz="3600" dirty="0">
              <a:solidFill>
                <a:srgbClr val="FFAB4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474025" y="414025"/>
            <a:ext cx="44502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3" name="Google Shape;63;p14"/>
          <p:cNvSpPr txBox="1"/>
          <p:nvPr/>
        </p:nvSpPr>
        <p:spPr>
          <a:xfrm>
            <a:off x="938500" y="1676775"/>
            <a:ext cx="7172100" cy="23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Age, credit score and salary do not explain salary or balance (R² ≈ 0)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Germany has the highest churn, about double France and Spain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Older, inactive customers are most likely to leave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The model has about 82% accuracy but misses most churners; use a lower cutoff</a:t>
            </a:r>
          </a:p>
          <a:p>
            <a:pPr>
              <a:spcAft>
                <a:spcPts val="16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Target retention offers at older, inactive customers, especially in Germany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21562637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Infographics by Slidesgo">
  <a:themeElements>
    <a:clrScheme name="Simple Light">
      <a:dk1>
        <a:srgbClr val="FFFFFF"/>
      </a:dk1>
      <a:lt1>
        <a:srgbClr val="001633"/>
      </a:lt1>
      <a:dk2>
        <a:srgbClr val="FFFFFF"/>
      </a:dk2>
      <a:lt2>
        <a:srgbClr val="FFAB40"/>
      </a:lt2>
      <a:accent1>
        <a:srgbClr val="85D5E6"/>
      </a:accent1>
      <a:accent2>
        <a:srgbClr val="78909C"/>
      </a:accent2>
      <a:accent3>
        <a:srgbClr val="0097A7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405</Words>
  <Application>Microsoft Office PowerPoint</Application>
  <PresentationFormat>On-screen Show (16:9)</PresentationFormat>
  <Paragraphs>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Montserrat</vt:lpstr>
      <vt:lpstr>Times New Roman</vt:lpstr>
      <vt:lpstr>Cambria</vt:lpstr>
      <vt:lpstr>Montserrat ExtraBold</vt:lpstr>
      <vt:lpstr>Montserrat ExtraLight</vt:lpstr>
      <vt:lpstr>Futuristic Background Infographics by Slidesgo</vt:lpstr>
      <vt:lpstr>Customer Churn Prediction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Analysis</dc:title>
  <dc:creator>HP</dc:creator>
  <cp:lastModifiedBy>Yashika Batham</cp:lastModifiedBy>
  <cp:revision>11</cp:revision>
  <dcterms:modified xsi:type="dcterms:W3CDTF">2026-10-01T15:58:08Z</dcterms:modified>
</cp:coreProperties>
</file>